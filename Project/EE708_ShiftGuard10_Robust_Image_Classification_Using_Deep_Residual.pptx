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0617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ShiftGuard10: Robust Image Classification Using Deep Residual Networks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638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Augmentation &amp; Test-Time Augmentation for distortion-resilient multi-class recognition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5081945"/>
            <a:ext cx="2787372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7498" y="5157549"/>
            <a:ext cx="24999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EE708 PROJECT : GROUP 45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94509" y="5081945"/>
            <a:ext cx="99214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38218" y="5157549"/>
            <a:ext cx="70473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RESNET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6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31169"/>
            <a:ext cx="83447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Images Are Messy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780109"/>
            <a:ext cx="130428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image classifiers assume clean, well-aligned inputs. In practice, images arrive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shifted, distorted, rotated, or corrupted by noise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degrading model performance significantly.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order to address this problem,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used. This neural network architecture is useful for identifying image features such as edges and textures through learning. Moreover, for enhanced efficiency, Residual Neural Network (ResNet) is designed using skip connections.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212675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59603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 off-center or partially cropped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5212675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4256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Distortion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256" y="59603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Geometric warping and perspective changes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5212675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7427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Noise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97427" y="59603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Pixel-level corruption from sensors or compression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9216"/>
            <a:ext cx="68062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&amp;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49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0611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contains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labeled training images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unlabeled test images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multi-class classification. All images are converted to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 format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normalized to stabilize training.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1798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class distribution is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imbalanced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some classes appear more frequently than others. To address this,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sampling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representative splits across training and validation sets. Labels are encoded using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one-hot encoding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3144441"/>
            <a:ext cx="6244709" cy="24226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99521" y="58222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49724"/>
            <a:ext cx="7739420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Augmentation Strategy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677114"/>
            <a:ext cx="130675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improve generalization, the training set is expanded with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variations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each image — forcing the model to learn class-invariant features rather than memorizing specific pixel patterns.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407" y="2632948"/>
            <a:ext cx="6423898" cy="2540675"/>
          </a:xfrm>
          <a:prstGeom prst="roundRect">
            <a:avLst>
              <a:gd name="adj" fmla="val 36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2269" y="2863810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6459" y="3048000"/>
            <a:ext cx="301347" cy="301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2269" y="375344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Flipping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12269" y="4234101"/>
            <a:ext cx="59621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reflections to handle mirrored orientations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5095" y="2632948"/>
            <a:ext cx="6423898" cy="2540675"/>
          </a:xfrm>
          <a:prstGeom prst="roundRect">
            <a:avLst>
              <a:gd name="adj" fmla="val 36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55957" y="2863810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0147" y="3048000"/>
            <a:ext cx="301347" cy="301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957" y="375344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Rotation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7655957" y="4234101"/>
            <a:ext cx="59621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angle rotations to simulate perspective variation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81407" y="5393412"/>
            <a:ext cx="6423898" cy="2186345"/>
          </a:xfrm>
          <a:prstGeom prst="roundRect">
            <a:avLst>
              <a:gd name="adj" fmla="val 428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12269" y="5624274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6459" y="5808464"/>
            <a:ext cx="301347" cy="301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2269" y="6513909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Zooming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1012269" y="6994565"/>
            <a:ext cx="59621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changes to improve scale-invariance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5095" y="5393412"/>
            <a:ext cx="6423898" cy="2186345"/>
          </a:xfrm>
          <a:prstGeom prst="roundRect">
            <a:avLst>
              <a:gd name="adj" fmla="val 428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55957" y="5624274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0147" y="5808464"/>
            <a:ext cx="301347" cy="301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5957" y="6513909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Shifting</a:t>
            </a:r>
            <a:endParaRPr lang="en-US" sz="2150" dirty="0"/>
          </a:p>
        </p:txBody>
      </p:sp>
      <p:sp>
        <p:nvSpPr>
          <p:cNvPr id="23" name="Text 17"/>
          <p:cNvSpPr/>
          <p:nvPr/>
        </p:nvSpPr>
        <p:spPr>
          <a:xfrm>
            <a:off x="7655957" y="6994565"/>
            <a:ext cx="59621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Translational offsets to handle misaligned inputs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60678"/>
            <a:ext cx="6400443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Architecture: ResNet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07" y="1670447"/>
            <a:ext cx="6999327" cy="320337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778" y="2470244"/>
            <a:ext cx="450026" cy="4500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0833" y="3986552"/>
            <a:ext cx="1314077" cy="5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FC + Softmax</a:t>
            </a:r>
            <a:endParaRPr lang="en-US" sz="1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4259" y="2471088"/>
            <a:ext cx="450026" cy="4500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84735" y="3986552"/>
            <a:ext cx="1314077" cy="5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Avg Pool</a:t>
            </a:r>
            <a:endParaRPr lang="en-US" sz="15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7162" y="2471088"/>
            <a:ext cx="450026" cy="45002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837638" y="3986552"/>
            <a:ext cx="1314077" cy="5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Residual Blocks</a:t>
            </a:r>
            <a:endParaRPr lang="en-US" sz="15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91064" y="2471088"/>
            <a:ext cx="450026" cy="45002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54539" y="4113122"/>
            <a:ext cx="1314077" cy="25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1550" dirty="0"/>
          </a:p>
        </p:txBody>
      </p:sp>
      <p:sp>
        <p:nvSpPr>
          <p:cNvPr id="12" name="Text 5"/>
          <p:cNvSpPr/>
          <p:nvPr/>
        </p:nvSpPr>
        <p:spPr>
          <a:xfrm>
            <a:off x="781407" y="5052417"/>
            <a:ext cx="8331875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follows the ResNet structure: an input layer feeds a series of residual blocks built with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normalization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ReLU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activation. These blocks progressively increase the number of filters from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256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512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6"/>
          <p:cNvSpPr/>
          <p:nvPr/>
        </p:nvSpPr>
        <p:spPr>
          <a:xfrm>
            <a:off x="781407" y="6031825"/>
            <a:ext cx="8331875" cy="1394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connections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transmit gradients directly through the network, making it possible to train much deeper models while reducing the vanishing gradient problem. After the residual stack,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average pooling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compresses the feature maps before the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connected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layer.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adds regularization to reduce overfitting, and the final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softmax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layer produces the output probabilities.</a:t>
            </a:r>
            <a:endParaRPr lang="en-US" sz="1450" dirty="0"/>
          </a:p>
        </p:txBody>
      </p:sp>
      <p:sp>
        <p:nvSpPr>
          <p:cNvPr id="14" name="Text 7"/>
          <p:cNvSpPr/>
          <p:nvPr/>
        </p:nvSpPr>
        <p:spPr>
          <a:xfrm>
            <a:off x="9583817" y="2262307"/>
            <a:ext cx="3877508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ResNet Over Standard CNN?</a:t>
            </a:r>
            <a:endParaRPr lang="en-US" sz="1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4897" y="2746891"/>
            <a:ext cx="284678" cy="28467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00561" y="2737485"/>
            <a:ext cx="3655933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connections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allow gradients to propagate cleanly through many layers without degradation</a:t>
            </a:r>
            <a:endParaRPr lang="en-US" sz="14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54897" y="3900964"/>
            <a:ext cx="284678" cy="28467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200561" y="3891558"/>
            <a:ext cx="3655933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Deeper networks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achievable (64→512 filters) without accuracy collapse</a:t>
            </a:r>
            <a:endParaRPr lang="en-US" sz="14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54897" y="5055037"/>
            <a:ext cx="284678" cy="28467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200561" y="5045631"/>
            <a:ext cx="3655933" cy="55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normalization + ReLU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each block stabilizes activations</a:t>
            </a:r>
            <a:endParaRPr lang="en-US" sz="14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54897" y="5951339"/>
            <a:ext cx="284678" cy="28467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200561" y="5941933"/>
            <a:ext cx="3655933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+ Global Average Pooling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 overfitting before the classifier head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05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Strategy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086463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3406021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38313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47120" y="38738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1962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2453402"/>
            <a:ext cx="4593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SGD with momentum &amp; Nesterov acceleration for fast, stable convergence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086463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382" y="38313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2453" y="38738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4856" y="4993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LR Schedule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818" y="5484138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Cosine annealing gradually reduces the learning rate to fine-tune convergence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3406021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597" y="38313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7667" y="38738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230070" y="1962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Regularization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1032" y="2453402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 decay prevents overfitting; dropout applied before output layer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086463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930" y="38313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43000" y="38738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5403" y="4993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Checkpointing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6365" y="5484138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stopping and model checkpoints preserve the best validation epoch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93790" y="6465094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809184"/>
            <a:ext cx="283488" cy="22681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30906" y="674858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size: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64 — balances GPU memory efficiency with stable gradient estimates across all training runs.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00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5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Behavior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76989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increases steadily throughout training. Training accuracy approaches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validation accuracy converges to a slightly lower value — indicating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generalization with minimal overfitting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loss gap between train and validation sets remains narrow throughout.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81218"/>
            <a:ext cx="42816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Test-Time Augmentation (TTA)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56236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augmented versions of each test image are generated at inference. Averaging their predictions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variance and improves overall stability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particularly for borderline or noisy inputs.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599521" y="2024182"/>
            <a:ext cx="3008948" cy="213872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3955" y="2258616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33955" y="2839760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→ ~1.0 Validation → strong generalization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0835283" y="2024182"/>
            <a:ext cx="3008948" cy="213872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9717" y="2258616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69717" y="2839760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declining with small train/val gap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599521" y="4389715"/>
            <a:ext cx="3008948" cy="2864525"/>
          </a:xfrm>
          <a:prstGeom prst="roundRect">
            <a:avLst>
              <a:gd name="adj" fmla="val 33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33955" y="4624149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F1-Score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33955" y="5205293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across classes with only minor per-class variation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10835283" y="4389715"/>
            <a:ext cx="3008948" cy="2864525"/>
          </a:xfrm>
          <a:prstGeom prst="roundRect">
            <a:avLst>
              <a:gd name="adj" fmla="val 33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9717" y="4624149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Confusion Matrix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069717" y="5205293"/>
            <a:ext cx="25400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concentrated on diagonal — errors limited to visually similar classes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284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Analysis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29038"/>
            <a:ext cx="12390596" cy="4415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474857"/>
            <a:ext cx="13042821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rises gradually, reflecting learning. The training accuracy approaches 1.0, whereas validation accuracy con- verges to a little smaller value, reflecting successful generalization. The loss declines continually, where the gap between training and validation losses is minor, implying a little overfitting.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127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Analysis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44873"/>
            <a:ext cx="5429845" cy="3791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904" y="1844873"/>
            <a:ext cx="6069449" cy="39454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250900"/>
            <a:ext cx="13042821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predictions lie along the diagonal, indicating correct classifications. Some errors occur between similar classes. 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performs consistently across most classes with only slight variations, except truck and frog because we have very few samples of them.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174319"/>
            <a:ext cx="37590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ResNet + Skip Connections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266473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 deep, stable learning for a challenging multi-class distorted image classification task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3559135"/>
            <a:ext cx="42951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Augmentation &amp; Regularization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0906" y="404955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augmentation, dropout, and weight decay significantly improved generalization with low overfitting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4943951"/>
            <a:ext cx="34361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Test-Time Augmentation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543437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Averaging predictions over augmented test views boosted robustness and prediction stability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30906" y="6819186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ensembles, advanced architectures (EfficientNet, Vision Transformers), and learned augmentation policies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2026-04-12T16:29:04Z</dcterms:created>
  <dcterms:modified xsi:type="dcterms:W3CDTF">2026-04-12T16:29:04Z</dcterms:modified>
</cp:coreProperties>
</file>